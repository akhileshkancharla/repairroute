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2816b5b0c4adb" /><Relationship Type="http://schemas.openxmlformats.org/officeDocument/2006/relationships/extended-properties" Target="/docProps/app.xml" Id="R5ba5287189c24643" /><Relationship Type="http://schemas.openxmlformats.org/officeDocument/2006/relationships/officeDocument" Target="/ppt/presentation.xml" Id="Rf8ae7bdc9861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e959b5c8664d71"/>
  </p:sldMasterIdLst>
  <p:notesMasterIdLst>
    <p:notesMasterId xmlns:r="http://schemas.openxmlformats.org/officeDocument/2006/relationships" r:id="R34885ee38f094005"/>
  </p:notesMasterIdLst>
  <p:sldIdLst>
    <p:sldId xmlns:r="http://schemas.openxmlformats.org/officeDocument/2006/relationships" id="256" r:id="R529eef9678894ed6"/>
    <p:sldId xmlns:r="http://schemas.openxmlformats.org/officeDocument/2006/relationships" id="257" r:id="Rbb4120cd1cb64917"/>
    <p:sldId xmlns:r="http://schemas.openxmlformats.org/officeDocument/2006/relationships" id="258" r:id="R43e3080dd253400b"/>
    <p:sldId xmlns:r="http://schemas.openxmlformats.org/officeDocument/2006/relationships" id="259" r:id="R1813cf0b182643d0"/>
    <p:sldId xmlns:r="http://schemas.openxmlformats.org/officeDocument/2006/relationships" id="260" r:id="R45827d97488f4c40"/>
    <p:sldId xmlns:r="http://schemas.openxmlformats.org/officeDocument/2006/relationships" id="261" r:id="Rcd13f2c6d3404e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c1f12ee446401b" /><Relationship Type="http://schemas.openxmlformats.org/officeDocument/2006/relationships/slideMaster" Target="/ppt/slideMasters/slideMaster1.xml" Id="R7be959b5c8664d71" /><Relationship Type="http://schemas.openxmlformats.org/officeDocument/2006/relationships/notesMaster" Target="/ppt/notesMasters/notesMaster1.xml" Id="R34885ee38f094005" /><Relationship Type="http://schemas.openxmlformats.org/officeDocument/2006/relationships/presProps" Target="/ppt/presProps.xml" Id="R95230e06381c4d43" /><Relationship Type="http://schemas.openxmlformats.org/officeDocument/2006/relationships/tableStyles" Target="/ppt/tableStyles.xml" Id="R170b06fcb3ea490b" /><Relationship Type="http://schemas.openxmlformats.org/officeDocument/2006/relationships/slide" Target="/ppt/slides/slide1.xml" Id="R529eef9678894ed6" /><Relationship Type="http://schemas.openxmlformats.org/officeDocument/2006/relationships/slide" Target="/ppt/slides/slide2.xml" Id="Rbb4120cd1cb64917" /><Relationship Type="http://schemas.openxmlformats.org/officeDocument/2006/relationships/slide" Target="/ppt/slides/slide3.xml" Id="R43e3080dd253400b" /><Relationship Type="http://schemas.openxmlformats.org/officeDocument/2006/relationships/slide" Target="/ppt/slides/slide4.xml" Id="R1813cf0b182643d0" /><Relationship Type="http://schemas.openxmlformats.org/officeDocument/2006/relationships/slide" Target="/ppt/slides/slide5.xml" Id="R45827d97488f4c40" /><Relationship Type="http://schemas.openxmlformats.org/officeDocument/2006/relationships/slide" Target="/ppt/slides/slide6.xml" Id="Rcd13f2c6d3404e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aad16c919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9d1402c504991" /><Relationship Type="http://schemas.openxmlformats.org/officeDocument/2006/relationships/notesMaster" Target="/ppt/notesMasters/notesMaster1.xml" Id="Rf502a340f7014b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fb05d8d704d71" /><Relationship Type="http://schemas.openxmlformats.org/officeDocument/2006/relationships/notesMaster" Target="/ppt/notesMasters/notesMaster1.xml" Id="R6474d7f3f7ce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ad2f28a1fa4804" /><Relationship Type="http://schemas.openxmlformats.org/officeDocument/2006/relationships/notesMaster" Target="/ppt/notesMasters/notesMaster1.xml" Id="R595ec80c35c2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7a76741f44632" /><Relationship Type="http://schemas.openxmlformats.org/officeDocument/2006/relationships/notesMaster" Target="/ppt/notesMasters/notesMaster1.xml" Id="Rd5d68f9ad17e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dcc350b9bb4bac" /><Relationship Type="http://schemas.openxmlformats.org/officeDocument/2006/relationships/notesMaster" Target="/ppt/notesMasters/notesMaster1.xml" Id="R580ae914c35848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2b4a8826fb41fd" /><Relationship Type="http://schemas.openxmlformats.org/officeDocument/2006/relationships/notesMaster" Target="/ppt/notesMasters/notesMaster1.xml" Id="R16141af0e7c8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RepairRoute identifies whether an existing fault warrants APS inspection. It does not predict future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is a design preview. The working app is available at https://repairroute.onrender.com/.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HistGradientBoostingClassifier, trained on 48,000 rows with 12,000 for validation. Fixed test result uses the separate 16,000-row test file. The model score is a ranking score, not a calibrated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https://repairroute.onrender.com/. GitHub: https://github.com/akhileshkancharla/repairroute. Free hosting can have cold starts.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 threshold was selected on validation data before test evaluation. Cost: 10 units per unnecessary check and 500 per missed APS fault. Precision 58.6%, accuracy 98.3%.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UCI dataset DOI: https://doi.org/10.24432/C51S51. The public dataset is licensed CC BY 4.0 according to its source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e9ffcc8c04b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1b82c721548ba" /><Relationship Type="http://schemas.openxmlformats.org/officeDocument/2006/relationships/slideLayout" Target="/ppt/slideLayouts/slideLayout1.xml" Id="R9c73a71d8db5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3a71d8db5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dd32094a84a88" /><Relationship Type="http://schemas.openxmlformats.org/officeDocument/2006/relationships/image" Target="/ppt/media/image.png" Id="R36c2bcb6961a4c23" /><Relationship Type="http://schemas.openxmlformats.org/officeDocument/2006/relationships/image" Target="/ppt/media/image.svg" Id="R245f5d5e7bcc4830" /><Relationship Type="http://schemas.openxmlformats.org/officeDocument/2006/relationships/notesSlide" Target="/ppt/notesSlides/notesSlide1.xml" Id="Rd1280e3f0253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72ef13fa043ce" /><Relationship Type="http://schemas.openxmlformats.org/officeDocument/2006/relationships/image" Target="/ppt/media/image2.png" Id="Raf7ff21081da4d65" /><Relationship Type="http://schemas.openxmlformats.org/officeDocument/2006/relationships/notesSlide" Target="/ppt/notesSlides/notesSlide2.xml" Id="Rbaab53cb27df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cd5148ba94d6c" /><Relationship Type="http://schemas.openxmlformats.org/officeDocument/2006/relationships/notesSlide" Target="/ppt/notesSlides/notesSlide3.xml" Id="R6a0a692d8b6f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04497cada471f" /><Relationship Type="http://schemas.openxmlformats.org/officeDocument/2006/relationships/notesSlide" Target="/ppt/notesSlides/notesSlide4.xml" Id="R00d817b9f84c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f50ada1b4bc1" /><Relationship Type="http://schemas.openxmlformats.org/officeDocument/2006/relationships/notesSlide" Target="/ppt/notesSlides/notesSlide5.xml" Id="Rcdff1e1f45d3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49e8d10d84be6" /><Relationship Type="http://schemas.openxmlformats.org/officeDocument/2006/relationships/notesSlide" Target="/ppt/notesSlides/notesSlide6.xml" Id="R7a1d4b305d0145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E0BEA-6DA3-4484-821A-29DAEDA0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6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8666B"/>
                </a:solidFill>
                <a:latin typeface="Times New Roman"/>
                <a:ea typeface="Times New Roman"/>
                <a:cs typeface="Times New Roman"/>
              </a:rPr>
              <a:t>AVETH’S FORGE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994F5-5B68-44B2-B517-C662F78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42B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>
                <a:solidFill>
                  <a:srgbClr val="142B36"/>
                </a:solidFill>
                <a:latin typeface="Times New Roman"/>
                <a:ea typeface="Times New Roman"/>
                <a:cs typeface="Times New Roman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92405-9EBF-42D6-903B-A228A4B3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28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Smarter APS inspection for faulty trucks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38381-60B0-447A-8DA4-337F463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42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28D3F-0BB0-41B4-B4A1-BDAA76D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Which faulty trucks should we inspect first?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D598E-AE28-46A6-BD17-A0680A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A ranked inspection queue that makes workshop capacity and missed-fault cost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CF325-E99E-474D-8F02-F86CBB8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Working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30558-4516-47AD-9E7E-047D9BA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bcb6961a4c23">
            <a:extLst>
              <a:ext uri="{96DAC541-7B7A-43D3-8B79-37D633B846F1}">
                <asvg:svgBlip xmlns:asvg="http://schemas.microsoft.com/office/drawing/2016/SVG/main" r:embed="R245f5d5e7bcc48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67725" y="2743200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641DE-EB74-4DB9-AA0E-5E7E9CF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Cost-aware decision support for existing truck faults</a:t>
            </a:r>
          </a:p>
        </p:txBody>
      </p:sp>
    </p:spTree>
    <p:extLst>
      <p:ext uri="{BB962C8B-B14F-4D97-AF65-F5344CB8AC3E}">
        <p14:creationId xmlns:p14="http://schemas.microsoft.com/office/powerpoint/2010/main" val="1233968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C6B89-56A8-4E1B-9B78-34DFF04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E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B8F14-CE42-49AE-86B0-13605C10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0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A34A4-0E29-4855-8441-3FBB1BDC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REPAIRROUTE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81600-4DC5-4E2F-A7DA-BDCC718B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AVETH’S FORGE</a:t>
            </a:r>
          </a:p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363A3-B153-4B8C-A103-1198B32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384CE-648E-479F-B77B-6FBE88F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B45D6-E10C-40B8-887E-89C7E32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7BE0C-C69D-44BA-B652-9D60A189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ff21081da4d65"/>
          <a:stretch xmlns:a="http://schemas.openxmlformats.org/drawingml/2006/main"/>
        </p:blipFill>
        <p:spPr>
          <a:xfrm xmlns:a="http://schemas.openxmlformats.org/drawingml/2006/main">
            <a:off x="476976" y="1266825"/>
            <a:ext cx="5742122" cy="4705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BCB6-2095-4DC9-8789-4C2D013E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32397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58DA7-97B9-44F9-B943-C7CC3DD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192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Rank existing faults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3D40-B079-4BCB-BF1D-D8ABD152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52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A trained model orders Scania-format records for APS inspection.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5D357-E550-4BFA-A311-A8878FF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81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Plan around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F325A-7897-49B9-9CC9-9FA1E755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1467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The manager chooses inspection slots and sees caught, missed, and unnecessary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15433-8A81-4EA1-888D-19E38E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29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Keep the decision human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F0FB2-EAF2-4CAC-9655-4161762D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624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Mechanics confirm APS faults and decide what to repair.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267F3-43ED-4928-B96D-0180272B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76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WHAT MAKES IT USEFUL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45612-5650-46FF-828D-C88E610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2673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The queue connects model output to a specific workshop action and compares it with inspect-all and inspect-none baselines.</a:t>
            </a:r>
          </a:p>
        </p:txBody>
      </p:sp>
    </p:spTree>
    <p:extLst>
      <p:ext uri="{BB962C8B-B14F-4D97-AF65-F5344CB8AC3E}">
        <p14:creationId xmlns:p14="http://schemas.microsoft.com/office/powerpoint/2010/main" val="142613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AE40C-0E64-4665-BA25-7986F94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E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FF857-DFF4-4A3B-8B5A-9809F12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0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3FB03-CC0C-46F4-9FAB-31D95884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76C39-EBBC-4825-A2AC-718A47B7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AVETH’S FORGE</a:t>
            </a:r>
          </a:p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20E68-4550-433B-9397-9C7FBDE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90D5-5D87-4EF5-94DD-F4FA9F89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FEB00-F1B4-40B4-8AB8-E3802E7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7A492-39A4-4C50-8649-2E6822A6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FDD0C-FAF3-42F5-A27A-AFE4A932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239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DATA AND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1FAE5-85DE-4DAA-9525-3B9A09F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495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14288">
            <a:solidFill>
              <a:srgbClr val="D6E0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F85B9-FD58-420E-AAB5-D6F64165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Scania APS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F8C45-FA62-4E86-949A-7A8608CE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60,000 training rows</a:t>
            </a:r>
          </a:p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170 anonymised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5CA4D-BB1C-41F8-A97B-FE2EED6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52650"/>
            <a:ext cx="2495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14288">
            <a:solidFill>
              <a:srgbClr val="D6E0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E4A24-6047-4B47-A17C-E8484726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43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Validation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6AE46-AA3D-4771-AE04-60237D2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19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Choose the inspection cutoff</a:t>
            </a:r>
          </a:p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using benchmark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E5E9C-7695-4FF9-8C5C-92CD4D45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2495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14288">
            <a:solidFill>
              <a:srgbClr val="D6E0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1A3D1-A323-499A-A79E-16F91C8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FE9ED-9E67-4D16-B9B9-2E0287CF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16,000 records</a:t>
            </a:r>
          </a:p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Fixed evaluation reported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C0813-630F-44C1-A1BB-1DA19000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52650"/>
            <a:ext cx="24955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14288">
            <a:solidFill>
              <a:srgbClr val="D6E0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DA884-4D66-4042-A49D-507F66D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43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09AE0-173E-476A-B5B3-FFBB4EF6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19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369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Saved model + ranked queue</a:t>
            </a:r>
          </a:p>
          <a:p xmlns:a="http://schemas.openxmlformats.org/drawingml/2006/main">
            <a:pPr algn="ctr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FastAPI web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FB65B-38EB-4F54-9603-8B1CFA8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57475"/>
            <a:ext cx="257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5235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962D8-2BC1-49BB-AA9C-65B9868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57475"/>
            <a:ext cx="257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5235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992AE-FF50-4A84-ABE2-C748DEE7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57475"/>
            <a:ext cx="257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5235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D4DB1-DAE4-43C7-AE54-33EDED10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052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A09A1-BAFA-48B1-9B3F-8F6CD409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29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10 × unnecessary APS checks  +  500 × missed APS faults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8E7EB-24C6-40D0-B139-1F5A3CD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48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Costs are benchmark units from the dataset. Model training does not run when a user opens the website.</a:t>
            </a:r>
          </a:p>
        </p:txBody>
      </p:sp>
    </p:spTree>
    <p:extLst>
      <p:ext uri="{BB962C8B-B14F-4D97-AF65-F5344CB8AC3E}">
        <p14:creationId xmlns:p14="http://schemas.microsoft.com/office/powerpoint/2010/main" val="313648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B887D-BBC4-4F13-BF26-F7B0E4C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E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4D390-6ECB-41E9-AC0B-7B2EAB3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0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8B8ED-2BB4-44AE-96D3-E356CF7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7EDBD-425D-47D9-AF36-4F4A110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AVETH’S FORGE</a:t>
            </a:r>
          </a:p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7B621-10C9-4F2B-87B7-C7ACF86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60285-AC20-4946-8AD1-E331CC21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DF039-6E24-4F20-87E1-E699D1B8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6E06D-CD16-48AF-A7B5-95303947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2990C-FA57-46E9-A9C1-ABE5EDB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85AAA-D23E-471A-AAEA-2A9E9465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04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F5839-DE39-4058-BB39-A623005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One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AA330-58AE-43D9-8AB3-E2DDA99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Responsive website, FastAPI endpoints, saved model, and historical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E5A35-667B-445F-B544-5861CD2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No database needed for the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6020F-B0E9-44C9-B047-8DC1C6A0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Committed artifacts serve the historical planner. CSV uploads are scored on request.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52913-FFCF-4177-B1D3-2B01E64F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10868-75B3-4AB0-9DDE-3376C43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Training script, fixed test metrics, source attribution, and automated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C02E4-D463-4E83-925D-0DF0BFEF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1445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LIMITS AND NEXT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63A59-A456-4A29-9DE1-416283D8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504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FE509-E05D-45AD-B457-9A81E1BA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Historical, anonymised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2A68D-BFE0-47AA-A41A-B0FA2FE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Current fleet data and workshop labels are needed before operational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58C4E-F919-497B-8D8C-D65D29B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Human review remains essential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77F96-52E0-4E44-A434-6F1730B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The score cannot identify the failed component or prescribe a repair.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4E580-D1A3-4C6D-9FD7-9A34765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Deployment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C9B6C-93D7-4D52-BD3D-48A44B3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Connect to fault records, measure local costs, monitor drift, and audit decisions.</a:t>
            </a:r>
          </a:p>
        </p:txBody>
      </p:sp>
    </p:spTree>
    <p:extLst>
      <p:ext uri="{BB962C8B-B14F-4D97-AF65-F5344CB8AC3E}">
        <p14:creationId xmlns:p14="http://schemas.microsoft.com/office/powerpoint/2010/main" val="893707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8C242-57BD-4172-90AA-966442F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E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25966-918B-4029-A7FD-5E0B914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0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0F76B-12DF-4A4C-88C1-6F86E1DC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6F785-741C-4A74-AD37-F4187671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AVETH’S FORGE</a:t>
            </a:r>
          </a:p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D8FB-304B-4EC5-8BAF-A26E43D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76739-9EFC-44EC-A12F-E4F5E6C1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8493C-9827-459D-979A-81E58FF4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45F3B-5200-41F3-9813-F1F02AD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DCD89-34ED-4B2F-B713-A0B5FEA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HELD-OUT TEST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04DE2-B770-436A-BDED-9DAD1690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23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597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3F463-F667-499F-9451-B7AABE41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6215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inspections</a:t>
            </a:r>
          </a:p>
          <a:p xmlns:a="http://schemas.openxmlformats.org/drawingml/2006/main">
            <a:pPr algn="l">
              <a:defRPr sz="17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out of 16,000 faults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C6C57-6FD4-466B-86C9-2884B215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4D"/>
                </a:solidFill>
                <a:latin typeface="Arial"/>
                <a:ea typeface="Arial"/>
                <a:cs typeface="Arial"/>
              </a:rPr>
              <a:t>350 caught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3539E-9DF3-4873-B817-68C1124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F3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3540"/>
                </a:solidFill>
                <a:latin typeface="Arial"/>
                <a:ea typeface="Arial"/>
                <a:cs typeface="Arial"/>
              </a:rPr>
              <a:t>25 missed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2FCAF-D16B-4039-8096-67C9548C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93.3% APS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879CE-0C77-4FD1-A491-D84D365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72.0% F1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617FC-D901-4B26-A7C9-A92A89A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2954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BENCHMARK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DFB40-080F-4464-A906-71DB774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431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1CC03-56F4-4062-8D6D-0CC21D1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361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72415-BB0D-4690-908E-7CF89F9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669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14,970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597B2-95FD-4954-83E1-18A38D3F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432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Inspect 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8A1DB-3FC7-425D-A88E-2740107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05175"/>
            <a:ext cx="381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78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81228-328F-4D3B-BEA7-222BE38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670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156,250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5C02E-062E-4FDA-AC43-04BB9325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43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Inspect none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47848-E7D8-4419-AABF-5303BCB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05300"/>
            <a:ext cx="4572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354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33022-E636-4E7D-8953-2D2FD00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672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187,500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F1915-55AA-43EC-A4D9-C4D7CDCF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90.4% lower benchmark cost than inspecting every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F409B-345A-4796-8EB2-B251924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These costs compare historical decisions. They are not measured currency savings.</a:t>
            </a:r>
          </a:p>
        </p:txBody>
      </p:sp>
    </p:spTree>
    <p:extLst>
      <p:ext uri="{BB962C8B-B14F-4D97-AF65-F5344CB8AC3E}">
        <p14:creationId xmlns:p14="http://schemas.microsoft.com/office/powerpoint/2010/main" val="182852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8CCFF-B6AA-4A20-BFD4-0E2F9E7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E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81DE7-F8CB-4209-A84E-1E156A38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0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RepairRoute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5944-5386-44CE-A7C9-9191AF7C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68EB2-9ADB-47A2-9524-CA69223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AVETH’S FORGE</a:t>
            </a:r>
          </a:p>
          <a:p xmlns:a="http://schemas.openxmlformats.org/drawingml/2006/main">
            <a:pPr algn="r">
              <a:defRPr sz="12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42AE-73FB-44AB-9B14-874E7A9F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826FF-1073-4FAB-B119-8CB4DC20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repairroute.onrender.com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DC236-6F93-43E9-B613-C14130F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7EB77-BA6A-4102-8B26-E54C4F3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1C041-170E-4592-B62A-385B7695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80582-6247-4F7E-8D88-76743D8B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B36"/>
                </a:solidFill>
                <a:latin typeface="Arial"/>
                <a:ea typeface="Arial"/>
                <a:cs typeface="Arial"/>
              </a:rPr>
              <a:t>APS Failure at Scania Trucks, Scania CV AB, UCI Machine Learning Repository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9F8B5-5C0D-4166-AA57-84115C0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7E83"/>
                </a:solidFill>
                <a:latin typeface="Arial"/>
                <a:ea typeface="Arial"/>
                <a:cs typeface="Arial"/>
              </a:rPr>
              <a:t>archive.ics.uci.edu/dataset/421/aps+failure+at+scania+trucks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A5DDB-1A1D-4D7E-BD41-A4B00E3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DOI 10.24432/C51S51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4AE1-D8F2-44A2-B459-637ABCAB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E2A08-1180-4A34-B659-C5810DE7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IMPLEMENTATION AND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6D92B-F29B-4A6D-A95A-10FE7481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6"/>
                </a:solidFill>
                <a:latin typeface="Arial"/>
                <a:ea typeface="Arial"/>
                <a:cs typeface="Arial"/>
              </a:rPr>
              <a:t>Working app: repairroute.onrender.com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9FA41-463E-42BF-9414-2FFCB9CF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Source code and model method: github.com/akhileshkancharla/repairroute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F5EF6-F501-4F9E-9EEF-CA29252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BFC25-A84F-46AC-BCC9-67CC0A8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6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666B"/>
                </a:solidFill>
                <a:latin typeface="Arial"/>
                <a:ea typeface="Arial"/>
                <a:cs typeface="Arial"/>
              </a:rPr>
              <a:t>SCOPE OF THE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2EE9F-DBEE-4498-B18F-CFBEE74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Prioritises existing truck faults for APS inspection. A mechanic confirms diagnosis. Slider changes are retrospective simulations.</a:t>
            </a:r>
          </a:p>
        </p:txBody>
      </p:sp>
    </p:spTree>
    <p:extLst>
      <p:ext uri="{BB962C8B-B14F-4D97-AF65-F5344CB8AC3E}">
        <p14:creationId xmlns:p14="http://schemas.microsoft.com/office/powerpoint/2010/main" val="311037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2026-10-04T12:39:10.8910000Z</dcterms:created>
  <dcterms:modified xsi:type="dcterms:W3CDTF">2026-10-04T12:39:10.8910000Z</dcterms:modified>
</coreProperties>
</file>